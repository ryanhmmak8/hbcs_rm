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694" autoAdjust="0"/>
  </p:normalViewPr>
  <p:slideViewPr>
    <p:cSldViewPr snapToGrid="0" snapToObjects="1">
      <p:cViewPr varScale="1">
        <p:scale>
          <a:sx n="98" d="100"/>
          <a:sy n="98" d="100"/>
        </p:scale>
        <p:origin x="102" y="7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11/20/2025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HBCS Data Insight</a:t>
            </a:r>
          </a:p>
        </p:txBody>
      </p:sp>
      <p:sp>
        <p:nvSpPr>
          <p:cNvPr id="3" name="Subtitle 2"/>
          <p:cNvSpPr>
            <a:spLocks noGrp="1"/>
          </p:cNvSpPr>
          <p:nvPr>
            <p:ph type="subTitle" idx="1"/>
          </p:nvPr>
        </p:nvSpPr>
        <p:spPr>
          <a:xfrm>
            <a:off x="1371600" y="2914650"/>
            <a:ext cx="6400800" cy="1314450"/>
          </a:xfrm>
        </p:spPr>
        <p:txBody>
          <a:bodyPr/>
          <a:lstStyle/>
          <a:p>
            <a:pPr marL="0" lvl="0" indent="0">
              <a:buNone/>
            </a:pPr>
            <a:br/>
            <a:br/>
            <a:r>
              <a:t>Mak Hei Ming</a:t>
            </a:r>
          </a:p>
        </p:txBody>
      </p:sp>
      <p:sp>
        <p:nvSpPr>
          <p:cNvPr id="4" name="Date Placeholder 3"/>
          <p:cNvSpPr>
            <a:spLocks noGrp="1"/>
          </p:cNvSpPr>
          <p:nvPr>
            <p:ph type="dt" sz="half" idx="10"/>
          </p:nvPr>
        </p:nvSpPr>
        <p:spPr/>
        <p:txBody>
          <a:bodyPr/>
          <a:lstStyle/>
          <a:p>
            <a:pPr marL="0" lvl="0" indent="0">
              <a:buNone/>
            </a:pPr>
            <a:r>
              <a:t>2025-11-19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Survey Feedback</a:t>
            </a:r>
          </a:p>
        </p:txBody>
      </p:sp>
      <p:sp>
        <p:nvSpPr>
          <p:cNvPr id="3" name="Content Placeholder 2"/>
          <p:cNvSpPr>
            <a:spLocks noGrp="1"/>
          </p:cNvSpPr>
          <p:nvPr>
            <p:ph idx="1"/>
          </p:nvPr>
        </p:nvSpPr>
        <p:spPr/>
        <p:txBody>
          <a:bodyPr/>
          <a:lstStyle/>
          <a:p>
            <a:pPr lvl="0"/>
            <a:r>
              <a:t>Elderly respondents may not understand various terms related to antibiotic resistance and might have limited awareness of these concepts. They may claim they do not have certain conditions when, in fact, they do.​</a:t>
            </a:r>
          </a:p>
          <a:p>
            <a:pPr lvl="0"/>
            <a:r>
              <a:t>Elderly individuals may find it challenging to fully understand their dietary requirements; for instance, they might be following a diabetes diet without realizing it.​</a:t>
            </a:r>
          </a:p>
          <a:p>
            <a:pPr lvl="0"/>
            <a:r>
              <a:t>For Part 11, it would be beneficial to provide a clear definition of “friends.”​</a:t>
            </a:r>
          </a:p>
          <a:p>
            <a:pPr lvl="0"/>
            <a:r>
              <a:t>For Part 9 regarding eyesight, if a person claims they see normally but is wearing glasses, it would be important to confirm whether this indicates that their eyesight is actually diminished.​</a:t>
            </a:r>
          </a:p>
          <a:p>
            <a:pPr lvl="0"/>
            <a:r>
              <a:t>For Part 10 regarding eating, if a person claims they eat normally but requires dentures, it is important to confirm whether this suggests that their eating ability is actually diminished.​</a:t>
            </a:r>
          </a:p>
          <a:p>
            <a:pPr lvl="0"/>
            <a:r>
              <a:t>For the IADL, it may be difficult to differentiate between scores of 2 and 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Demographics (Baseline = 672)</a:t>
            </a:r>
          </a:p>
        </p:txBody>
      </p:sp>
      <p:sp>
        <p:nvSpPr>
          <p:cNvPr id="4" name="Text Placeholder 3"/>
          <p:cNvSpPr>
            <a:spLocks noGrp="1"/>
          </p:cNvSpPr>
          <p:nvPr>
            <p:ph type="body" sz="half" idx="2"/>
          </p:nvPr>
        </p:nvSpPr>
        <p:spPr/>
        <p:txBody>
          <a:bodyPr/>
          <a:lstStyle/>
          <a:p>
            <a:pPr lvl="0" indent="0">
              <a:buNone/>
            </a:pPr>
            <a:r>
              <a:rPr>
                <a:latin typeface="Courier"/>
              </a:rPr>
              <a:t>## 
## Attaching package: 'dplyr'</a:t>
            </a:r>
          </a:p>
          <a:p>
            <a:pPr lvl="0" indent="0">
              <a:buNone/>
            </a:pPr>
            <a:r>
              <a:rPr>
                <a:latin typeface="Courier"/>
              </a:rPr>
              <a:t>## The following objects are masked from 'package:stats':
## 
##     filter, lag</a:t>
            </a:r>
          </a:p>
          <a:p>
            <a:pPr lvl="0" indent="0">
              <a:buNone/>
            </a:pPr>
            <a:r>
              <a:rPr>
                <a:latin typeface="Courier"/>
              </a:rPr>
              <a:t>## The following objects are masked from 'package:base':
## 
##     intersect, setdiff, setequal, union</a:t>
            </a:r>
          </a:p>
          <a:p>
            <a:pPr lvl="0" indent="0">
              <a:buNone/>
            </a:pPr>
            <a:r>
              <a:rPr>
                <a:latin typeface="Courier"/>
              </a:rPr>
              <a:t>## Warning: package 'ggplot2' was built under R version 4.5.2</a:t>
            </a:r>
          </a:p>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3 × 2
##   A1_short Frequency
##   &lt;chr&gt;        &lt;int&gt;
## 1 HSS            408
## 2 EHC            180
## 3 IHF             84</a:t>
            </a:r>
          </a:p>
          <a:p>
            <a:pPr lvl="0" indent="0">
              <a:buNone/>
            </a:pPr>
            <a:r>
              <a:rPr>
                <a:latin typeface="Courier"/>
              </a:rPr>
              <a:t>## # A tibble: 7 × 3
##   A1_short Gender Frequency
##   &lt;chr&gt;     &lt;int&gt;     &lt;int&gt;
## 1 EHC           2       135
## 2 EHC           1        45
## 3 HSS           2       269
## 4 HSS           1       131
## 5 HSS           0         8
## 6 IHF           2        56
## 7 IHF           1        28</a:t>
            </a:r>
          </a:p>
        </p:txBody>
      </p:sp>
      <p:pic>
        <p:nvPicPr>
          <p:cNvPr id="3" name="Picture 1" descr="HBCS-Data--20251002--Insight-R-Codes_Markdown---Ryan_files/figure-pptx/DEMOGRAPHICS-1.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17 × 3
##    A1_short Marital_Status Frequency
##    &lt;chr&gt;             &lt;int&gt;     &lt;int&gt;
##  1 EHC                   5       105
##  2 EHC                   2        63
##  3 EHC                   3         5
##  4 EHC                   1         4
##  5 EHC                   4         3
##  6 HSS                   5       190
##  7 HSS                   2       114
##  8 HSS                   1        64
##  9 HSS                   3        36
## 10 HSS                   4         2
## 11 HSS                   6         1
## 12 HSS                   7         1
## 13 IHF                   5        42
## 14 IHF                   2        33
## 15 IHF                   1         5
## 16 IHF                   3         3
## 17 IHF                   4         1</a:t>
            </a:r>
          </a:p>
        </p:txBody>
      </p:sp>
      <p:pic>
        <p:nvPicPr>
          <p:cNvPr id="2" name="Picture 1" descr="HBCS-Data--20251002--Insight-R-Codes_Markdown---Ryan_files/figure-pptx/DEMOGRAPHICS-3.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13 × 3
##    A1_short Age_Group Frequency
##    &lt;chr&gt;    &lt;chr&gt;         &lt;int&gt;
##  1 EHC      80-90            75
##  2 EHC      &gt;90              61
##  3 EHC      70-80            36
##  4 EHC      60-70             8
##  5 HSS      80-90           173
##  6 HSS      70-80           110
##  7 HSS      60-70            62
##  8 HSS      &gt;90              46
##  9 HSS      &lt;60              17
## 10 IHF      80-90            41
## 11 IHF      70-80            18
## 12 IHF      &gt;90              18
## 13 IHF      60-70             7</a:t>
            </a:r>
          </a:p>
        </p:txBody>
      </p:sp>
      <p:pic>
        <p:nvPicPr>
          <p:cNvPr id="2" name="Picture 1" descr="HBCS-Data--20251002--Insight-R-Codes_Markdown---Ryan_files/figure-pptx/DEMOGRAPHICS-5.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18 × 3
##    A1_short Education_Level Frequency
##    &lt;chr&gt;              &lt;int&gt;     &lt;int&gt;
##  1 EHC                    0        59
##  2 EHC                    3        41
##  3 EHC                    4        31
##  4 EHC                    1        28
##  5 EHC                    2        11
##  6 EHC                    5        10
##  7 HSS                    4       114
##  8 HSS                    3       106
##  9 HSS                    0        75
## 10 HSS                    1        62
## 11 HSS                    5        32
## 12 HSS                    2        11
## 13 HSS                    6         8
## 14 IHF                    0        30
## 15 IHF                    3        25
## 16 IHF                    4        16
## 17 IHF                    1        10
## 18 IHF                    5         3</a:t>
            </a:r>
          </a:p>
        </p:txBody>
      </p:sp>
      <p:pic>
        <p:nvPicPr>
          <p:cNvPr id="2" name="Picture 1" descr="HBCS-Data--20251002--Insight-R-Codes_Markdown---Ryan_files/figure-pptx/DEMOGRAPHICS-7.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Demographics (Baseline = 672)</a:t>
            </a:r>
          </a:p>
        </p:txBody>
      </p:sp>
      <p:sp>
        <p:nvSpPr>
          <p:cNvPr id="4" name="Text Placeholder 3"/>
          <p:cNvSpPr>
            <a:spLocks noGrp="1"/>
          </p:cNvSpPr>
          <p:nvPr>
            <p:ph type="body" sz="half" idx="2"/>
          </p:nvPr>
        </p:nvSpPr>
        <p:spPr/>
        <p:txBody>
          <a:bodyPr/>
          <a:lstStyle/>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12 × 3
##    A1_short Housing_Type Frequency
##    &lt;chr&gt;           &lt;int&gt;     &lt;int&gt;
##  1 EHC                 1       102
##  2 EHC                 3        56
##  3 EHC                 2        17
##  4 EHC                 4         3
##  5 EHC                 5         2
##  6 HSS                 1       300
##  7 HSS                 3        69
##  8 HSS                 2        39
##  9 IHF                 1        54
## 10 IHF                 3        18
## 11 IHF                 2        11
## 12 IHF                 4         1</a:t>
            </a:r>
          </a:p>
        </p:txBody>
      </p:sp>
      <p:pic>
        <p:nvPicPr>
          <p:cNvPr id="3" name="Picture 1" descr="HBCS-Data--20251002--Insight-R-Codes_Markdown---Ryan_files/figure-pptx/DEMOGRAPHICS_CONT-1.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6 × 3
##   A1_short Residence_Situation Frequency
##   &lt;chr&gt;                  &lt;int&gt;     &lt;int&gt;
## 1 EHC                        2       159
## 2 EHC                        1        21
## 3 HSS                        2       211
## 4 HSS                        1       197
## 5 IHF                        2        73
## 6 IHF                        1        11</a:t>
            </a:r>
          </a:p>
        </p:txBody>
      </p:sp>
      <p:pic>
        <p:nvPicPr>
          <p:cNvPr id="2" name="Picture 1" descr="HBCS-Data--20251002--Insight-R-Codes_Markdown---Ryan_files/figure-pptx/DEMOGRAPHICS_CONT-3.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10 × 3
##    A1_short Residence_Condition Frequency
##    &lt;chr&gt;                  &lt;int&gt;     &lt;int&gt;
##  1 EHC                        1       162
##  2 EHC                        2        15
##  3 EHC                        0         3
##  4 HSS                        1       334
##  5 HSS                        2        68
##  6 HSS                        0         5
##  7 HSS                      998         1
##  8 IHF                        1        74
##  9 IHF                        2         9
## 10 IHF                        0         1</a:t>
            </a:r>
          </a:p>
        </p:txBody>
      </p:sp>
      <p:pic>
        <p:nvPicPr>
          <p:cNvPr id="2" name="Picture 1" descr="HBCS-Data--20251002--Insight-R-Codes_Markdown---Ryan_files/figure-pptx/DEMOGRAPHICS_CONT-5.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18 × 3
##    A1_short Government_Welfare Frequency
##    &lt;chr&gt;                 &lt;int&gt;     &lt;int&gt;
##  1 EHC                       4        98
##  2 EHC                       5        28
##  3 EHC                       1        23
##  4 EHC                       3        13
##  5 EHC                       2        12
##  6 EHC                     998         5
##  7 EHC                     999         1
##  8 HSS                       4       195
##  9 HSS                       1       117
## 10 HSS                       5        52
## 11 HSS                       2        25
## 12 HSS                     998        14
## 13 HSS                       3         5
## 14 IHF                       4        45
## 15 IHF                       5        18
## 16 IHF                       1        12
## 17 IHF                       3         6
## 18 IHF                       2         3</a:t>
            </a:r>
          </a:p>
        </p:txBody>
      </p:sp>
      <p:pic>
        <p:nvPicPr>
          <p:cNvPr id="2" name="Picture 1" descr="HBCS-Data--20251002--Insight-R-Codes_Markdown---Ryan_files/figure-pptx/DEMOGRAPHICS_CONT-7.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12 × 3
##    A1_short Outdoor_Frequency Frequency
##    &lt;chr&gt;                &lt;int&gt;     &lt;int&gt;
##  1 EHC                      1        69
##  2 EHC                      2        55
##  3 EHC                      0        39
##  4 EHC                      3        17
##  5 HSS                      1       177
##  6 HSS                      2       125
##  7 HSS                      0        69
##  8 HSS                      3        37
##  9 IHF                      2        33
## 10 IHF                      1        31
## 11 IHF                      0        10
## 12 IHF                      3        10</a:t>
            </a:r>
          </a:p>
        </p:txBody>
      </p:sp>
      <p:pic>
        <p:nvPicPr>
          <p:cNvPr id="2" name="Picture 1" descr="HBCS-Data--20251002--Insight-R-Codes_Markdown---Ryan_files/figure-pptx/DEMOGRAPHICS_CONT-9.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endParaRPr/>
          </a:p>
          <a:p>
            <a:pPr lvl="0" indent="0">
              <a:buNone/>
            </a:pPr>
            <a:r>
              <a:rPr>
                <a:latin typeface="Courier"/>
              </a:rPr>
              <a:t>## # A tibble: 672 × 638
##      num A1      A2a   A2b   A2c   A3a   A3b   A3c B1    B2       B3   B4a   B4b
##    &lt;int&gt; &lt;chr&gt; &lt;int&gt; &lt;int&gt; &lt;int&gt; &lt;int&gt; &lt;int&gt; &lt;int&gt; &lt;chr&gt; &lt;chr&gt; &lt;int&gt; &lt;int&gt; &lt;int&gt;
##  1   631 EHC/…  2023    11     7  2025     5     7 " 陳駿… CHAN…     1  1938     1
##  2    58 EHC/…  2020     6    22  2024     6    17 "任煥娥… Yam …     2  1936     1
##  3   266 HSS/…  2024    12    27  2024    12    27 "伍瑞鳳… Ng S…     2  1943    11
##  4    59 EHC/…  2019    10    19  2024     6    27 "何亞蘭… Ho A…     2  1945     1
##  5   617 IHF/…  2025     6    27  2025     6    27 "余月容… YU Y…     2  1946    10
##  6   592 HSS/…  2025     5    28  2025     5    28 "冼家偉… Sin …     1  1929     1
##  7    26 HSS/…  2024     8    22  2024     8    22 "劉錞清… Lau …     1  1940    10
##  8   281 HSS/…  2010     9    14  2025     1     3 "古楊喜… Kuo …     1  1942     5
##  9   126 EHC/…  2019    10    21  2024     6    25 "吳鳳"… Ng F…     2  1933     1
## 10   628 EHC/…  2023     6    13  2025     5    16 "周猷光… CHOW…     1  1937     1
## # ℹ 662 more rows
## # ℹ 625 more variables: B4c &lt;int&gt;, B5 &lt;int&gt;, B6 &lt;int&gt;, B8a &lt;chr&gt;, B8b &lt;chr&gt;,
## #   B8c &lt;chr&gt;, B11 &lt;int&gt;, B12 &lt;int&gt;, B12a &lt;chr&gt;, B13 &lt;int&gt;, B13a &lt;chr&gt;,
## #   B14 &lt;chr&gt;, B15 &lt;int&gt;, B16 &lt;int&gt;, B16a &lt;int&gt;, B17 &lt;int&gt;, C1 &lt;int&gt;,
## #   C1a &lt;chr&gt;, C2 &lt;int&gt;, C3 &lt;int&gt;, C3a &lt;chr&gt;, C4 &lt;int&gt;, C4a &lt;int&gt;, C5 &lt;int&gt;,
## #   C6a &lt;int&gt;, C6b &lt;int&gt;, C6c &lt;int&gt;, C6d &lt;int&gt;, C6e &lt;int&gt;, C6e1 &lt;chr&gt;,
## #   C7 &lt;int&gt;, C7a &lt;int&gt;, C7b &lt;int&gt;, C8 &lt;int&gt;, C8a &lt;int&gt;, C8b &lt;int&gt;, …</a:t>
            </a:r>
          </a:p>
          <a:p>
            <a:pPr lvl="0" indent="0">
              <a:buNone/>
            </a:pPr>
            <a:r>
              <a:rPr>
                <a:latin typeface="Courier"/>
              </a:rPr>
              <a:t>## # A tibble: 8 × 3
##   A1_short Outdoor_Autonomy Frequency
##   &lt;chr&gt;               &lt;int&gt;     &lt;int&gt;
## 1 EHC                     2       143
## 2 EHC                     1        33
## 3 EHC                     0         4
## 4 HSS                     1       263
## 5 HSS                     2       141
## 6 HSS                     0         4
## 7 IHF                     2        65
## 8 IHF                     1        19</a:t>
            </a:r>
          </a:p>
        </p:txBody>
      </p:sp>
      <p:pic>
        <p:nvPicPr>
          <p:cNvPr id="2" name="Picture 1" descr="HBCS-Data--20251002--Insight-R-Codes_Markdown---Ryan_files/figure-pptx/DEMOGRAPHICS_CONT-11.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Disease Prevalence (Baseline = 672)</a:t>
            </a:r>
          </a:p>
        </p:txBody>
      </p:sp>
      <p:sp>
        <p:nvSpPr>
          <p:cNvPr id="4" name="Text Placeholder 3"/>
          <p:cNvSpPr>
            <a:spLocks noGrp="1"/>
          </p:cNvSpPr>
          <p:nvPr>
            <p:ph type="body" sz="half" idx="2"/>
          </p:nvPr>
        </p:nvSpPr>
        <p:spPr/>
        <p:txBody>
          <a:bodyPr/>
          <a:lstStyle/>
          <a:p>
            <a:pPr lvl="0" indent="0">
              <a:buNone/>
            </a:pPr>
            <a:r>
              <a:rPr>
                <a:latin typeface="Courier"/>
              </a:rPr>
              <a:t>## Warning: package 'tidyr' was built under R version 4.5.2</a:t>
            </a:r>
          </a:p>
        </p:txBody>
      </p:sp>
      <p:pic>
        <p:nvPicPr>
          <p:cNvPr id="3" name="Picture 1" descr="HBCS-Data--20251002--Insight-R-Codes_Markdown---Ryan_files/figure-pptx/DISEASE%20PREVALENCE-1.png"/>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5747</Words>
  <Application>Microsoft Office PowerPoint</Application>
  <PresentationFormat>On-screen Show (16:9)</PresentationFormat>
  <Paragraphs>47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Courier</vt:lpstr>
      <vt:lpstr>Arial</vt:lpstr>
      <vt:lpstr>Calibri</vt:lpstr>
      <vt:lpstr>Office Theme</vt:lpstr>
      <vt:lpstr>HBCS Data Insight</vt:lpstr>
      <vt:lpstr>Survey Feedback</vt:lpstr>
      <vt:lpstr>Demographics (Baseline = 672)</vt:lpstr>
      <vt:lpstr>PowerPoint Presentation</vt:lpstr>
      <vt:lpstr>PowerPoint Presentation</vt:lpstr>
      <vt:lpstr>PowerPoint Presentation</vt:lpstr>
      <vt:lpstr>Demographics (Baseline = 672)</vt:lpstr>
      <vt:lpstr>PowerPoint Presentation</vt:lpstr>
      <vt:lpstr>PowerPoint Presentation</vt:lpstr>
      <vt:lpstr>PowerPoint Presentation</vt:lpstr>
      <vt:lpstr>PowerPoint Presentation</vt:lpstr>
      <vt:lpstr>PowerPoint Presentation</vt:lpstr>
      <vt:lpstr>Disease Prevalence (Baseline = 672)</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HBCS Data Insight</dc:title>
  <dc:creator>Mak Hei Ming</dc:creator>
  <cp:keywords/>
  <cp:lastModifiedBy>Hei Ming Mak</cp:lastModifiedBy>
  <cp:revision>1</cp:revision>
  <dcterms:created xsi:type="dcterms:W3CDTF">2025-11-20T01:29:00Z</dcterms:created>
  <dcterms:modified xsi:type="dcterms:W3CDTF">2025-11-20T01:29:47Z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2025-11-19</vt:lpwstr>
  </property>
  <property fmtid="{D5CDD505-2E9C-101B-9397-08002B2CF9AE}" pid="3" name="output">
    <vt:lpwstr>powerpoint_presentation</vt:lpwstr>
  </property>
</Properties>
</file>